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SOCIAL DEVELOPMENT, CIVIC GOVERNANCE</a:t>
            </a:r>
            <a:br/>
            <a:r>
              <a:t>&amp; HUMAN SECURITY CONTINUUM</a:t>
            </a:r>
          </a:p>
          <a:p>
            <a:pPr>
              <a:defRPr sz="1600">
                <a:solidFill>
                  <a:srgbClr val="D4AF37"/>
                </a:solidFill>
              </a:defRPr>
            </a:pPr>
            <a:r>
              <a:t>60 Comprehensive Applied Frameworks, M&amp;E Architectures &amp; Multilateral Policy Treatises</a:t>
            </a:r>
          </a:p>
          <a:p>
            <a:br/>
            <a:pPr>
              <a:defRPr sz="1100" i="1">
                <a:solidFill>
                  <a:srgbClr val="C8C8C8"/>
                </a:solidFill>
              </a:defRPr>
            </a:pPr>
            <a:r>
              <a:t>OPERATIONAL STATUS: WORKING DRAFTS // NON-AUTHORITATIVE ACADEMIC REFERENCE</a:t>
            </a:r>
            <a:br/>
            <a:r>
              <a:t>Prepared for Institutional Capacity Development &amp; Multi-Sectoral Systems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MULTILATERAL INTELLIGENCE (WORLD BANK, IMF, ADB &amp; NNS)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Multilateral Socio-Economic Baseline &amp; Structural Shocks</a:t>
            </a:r>
          </a:p>
        </p:txBody>
      </p:sp>
      <p:pic>
        <p:nvPicPr>
          <p:cNvPr id="3" name="Picture 2" descr="multilateral_socio_economic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2C57"/>
                </a:solidFill>
              </a:defRPr>
            </a:pPr>
            <a:r>
              <a:t>CORE MULTILATERAL TELEMETRY: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39.8% Poverty Headcount: Post-2022 macroeconomic shocks &amp; flood devastation (WB $3.65/day PPP).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52.1% Stunting in Rural Children: Acute nutritional deprivation in lower Sindh &amp; eastern Balochistan (NNS).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22.4% Female Labor Participation: One of the largest gender economic participation divides in South Asia.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Water Scarcity Threshold: Per-capita water drop from &gt;5,000 m3 in 1951 to &lt;900 m3 today (ADB PDNA).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PILLAR IV: SGBV PREVENTION &amp; PROTECTION ARCHITECTURE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SGBV Humanitarian Settlement 5x5 Quantitative Spatial Exposure Matrix</a:t>
            </a:r>
          </a:p>
        </p:txBody>
      </p:sp>
      <p:pic>
        <p:nvPicPr>
          <p:cNvPr id="3" name="Picture 2" descr="sgbv_spatial_risk_matrix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2C57"/>
                </a:solidFill>
              </a:defRPr>
            </a:pPr>
            <a:r>
              <a:t>MATHEMATICAL FORMULATION &amp; APPLICATION: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Mathematical Model: Risk Score = Vulnerability Factor x Exposure Duration x (1 - Mitigation Efficiency).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High-Hazard Danger Zones: Latrine corridors &gt;50m without solar lighting, remote firewood foraging routes.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72-Hour Clinical Pathway: Mandatory non-stigmatizing emergency contraception &amp; HIV PEP within 72h window.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Forensic Chain of Custody: Confidential evidence sealing protecting survivor identities from retaliation.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MASTER CROSS-DISCIPLINARY TREATISES (5W+1H)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FUSION-01: National Climate-Adaptive Social Safety Net &amp; Anticipatory Protection</a:t>
            </a:r>
          </a:p>
        </p:txBody>
      </p:sp>
      <p:pic>
        <p:nvPicPr>
          <p:cNvPr id="3" name="Picture 2" descr="anticipatory_action_prote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2C57"/>
                </a:solidFill>
              </a:defRPr>
            </a:pPr>
            <a:r>
              <a:t>SYSTEMS PARADIGM SHIFT: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Ex-Post Aid Failure: Traditional relief arrives Day +21 to +45, forcing distress sales and child marriage.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Pre-Emptive 72h Trigger: Satellite remote sensing flags flood crests; triggers $45 cash grants 72h early.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Multilateral Nexus: Integrates UNICEF water purification, WFP emergency food, and BISP mobile wallets.</a:t>
            </a:r>
          </a:p>
          <a:p>
            <a:pPr>
              <a:defRPr sz="1050">
                <a:solidFill>
                  <a:srgbClr val="3C4043"/>
                </a:solidFill>
              </a:defRPr>
            </a:pPr>
            <a:r>
              <a:t>• Zero Waste &amp; Transparency: Smart contract escrow rules with dual-signoff and independent AGP audits.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PORTFOLIO OVERVIEW &amp; IMPLEMENTATION ROADMAPS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Executive Index: The 60 Integrated Development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9496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I: Cyber/AI in Orphanages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Air-gapped cyber hygiene labs, local quantized LLMs, decentralized ERP, sensory play.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VII: Inclusive Microfinance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Predatory APR calculator, village Kameti modernization, low-literacy visual business canvas.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II: WASH &amp; Climate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Community water audits, sponge cities for slums, aquifer rationing, 72h camp sanitation.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VIII: Disaster Risk &amp; Food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Urban heatwave early action, communal grain reserves, pastoralist satellite drought insurance.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III: PMEL &amp; Public Governance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Master MEL manual, PC-1 proposal playbook, gender-lens evaluations, ethical AI safeguards.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IX: Civic Tech &amp; Disinformation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RTI procurement audit kits, federal media cell threat taxonomies, prison bail audits.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IV: SGBV Prevention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5x5 spatial exposure risk matrices, predictive vulnerability forecasting, 72h clinical SOP.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X: Multilateral Programs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World Bank HCI district models, IMF social spending monitors, UNHCR refugee inclusion.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V: Child Protection in Crisis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Unaccompanied minor case protocol, zero-child marriage escrow, Child-Friendly Spaces.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XI: QHSE &amp; Risk Governance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ISO integrated manual (9001/14001/45001), HAZID bow-tie models, heat stress code.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VI: Women's Rights &amp; Health (5 Projects):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Maternal obstetric tele-triage, menstrual WASH standards, mobile CNIC registration.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2C57"/>
                          </a:solidFill>
                        </a:defRPr>
                      </a:pPr>
                      <a:r>
                        <a:t>Pillar XII: 5 Master Fusion Treatises: </a:t>
                      </a:r>
                      <a:r>
                        <a:rPr b="0" sz="850">
                          <a:solidFill>
                            <a:srgbClr val="3C4043"/>
                          </a:solidFill>
                        </a:rPr>
                        <a:t>Holistic frameworks combining all 55 sector projects into unified national architectures.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